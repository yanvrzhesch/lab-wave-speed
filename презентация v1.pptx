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3"/>
    <p:sldId id="259" r:id="rId4"/>
    <p:sldId id="262" r:id="rId5"/>
    <p:sldId id="260" r:id="rId6"/>
    <p:sldId id="261" r:id="rId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8395"/>
            <a:ext cx="9144000" cy="1931670"/>
          </a:xfrm>
        </p:spPr>
        <p:txBody>
          <a:bodyPr>
            <a:normAutofit fontScale="90000"/>
          </a:bodyPr>
          <a:p>
            <a:r>
              <a:rPr lang="ru-RU" altLang="ru-RU" sz="4000" b="1" i="1"/>
              <a:t>Лабораторная работа</a:t>
            </a:r>
            <a:br>
              <a:rPr lang="ru-RU" altLang="ru-RU" sz="4000" b="1" i="1"/>
            </a:br>
            <a:r>
              <a:rPr lang="ru-RU" altLang="ru-RU" sz="4000" b="1" i="1"/>
              <a:t>Определение скорости распространения волны на поверхности воды</a:t>
            </a:r>
            <a:endParaRPr lang="ru-RU" altLang="ru-RU" sz="4000" b="1" i="1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562725" y="3285490"/>
            <a:ext cx="4105275" cy="1972310"/>
          </a:xfrm>
        </p:spPr>
        <p:txBody>
          <a:bodyPr>
            <a:normAutofit fontScale="90000" lnSpcReduction="20000"/>
          </a:bodyPr>
          <a:p>
            <a:r>
              <a:rPr lang="ru-RU" altLang="en-US"/>
              <a:t>Выполнили</a:t>
            </a:r>
            <a:r>
              <a:rPr lang="en-US" altLang="en-US"/>
              <a:t>:</a:t>
            </a:r>
            <a:endParaRPr lang="en-US" altLang="en-US"/>
          </a:p>
          <a:p>
            <a:r>
              <a:rPr lang="ru-RU" altLang="en-US"/>
              <a:t>Инютин Ярослав</a:t>
            </a:r>
            <a:endParaRPr lang="ru-RU" altLang="en-US"/>
          </a:p>
          <a:p>
            <a:r>
              <a:rPr lang="ru-RU" altLang="en-US"/>
              <a:t>Вржещ Ян</a:t>
            </a:r>
            <a:endParaRPr lang="ru-RU" altLang="en-US"/>
          </a:p>
          <a:p>
            <a:r>
              <a:rPr lang="ru-RU" altLang="en-US"/>
              <a:t>Подкорытов Владимир</a:t>
            </a:r>
            <a:endParaRPr lang="ru-RU" altLang="en-US"/>
          </a:p>
          <a:p>
            <a:r>
              <a:rPr lang="ru-RU" altLang="en-US"/>
              <a:t>Сахно Виктория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мещающее содержимое 3"/>
          <p:cNvSpPr>
            <a:spLocks noGrp="1"/>
          </p:cNvSpPr>
          <p:nvPr>
            <p:ph sz="quarter" idx="13"/>
          </p:nvPr>
        </p:nvSpPr>
        <p:spPr/>
        <p:txBody>
          <a:bodyPr/>
          <a:p>
            <a:pPr algn="ctr"/>
            <a:endParaRPr lang="ru-RU" altLang="en-US"/>
          </a:p>
          <a:p>
            <a:pPr algn="just">
              <a:buFont typeface="Arial" panose="020B0604020202020204" pitchFamily="34" charset="0"/>
            </a:pPr>
            <a:endParaRPr lang="ru-RU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altLang="en-US" sz="3600"/>
              <a:t>Цель работы</a:t>
            </a:r>
            <a:r>
              <a:rPr lang="en-US" altLang="en-US" sz="3600"/>
              <a:t>: </a:t>
            </a:r>
            <a:r>
              <a:rPr lang="ru-RU" altLang="en-US" sz="3600"/>
              <a:t>о</a:t>
            </a:r>
            <a:r>
              <a:rPr lang="en-US" altLang="en-US" sz="3600"/>
              <a:t>пределить</a:t>
            </a:r>
            <a:r>
              <a:rPr lang="en-US" altLang="ru-RU" sz="3600"/>
              <a:t> </a:t>
            </a:r>
            <a:r>
              <a:rPr lang="en-US" altLang="en-US" sz="3600"/>
              <a:t>скорость</a:t>
            </a:r>
            <a:r>
              <a:rPr lang="en-US" altLang="ru-RU" sz="3600"/>
              <a:t> </a:t>
            </a:r>
            <a:r>
              <a:rPr lang="en-US" altLang="en-US" sz="3600"/>
              <a:t>движения</a:t>
            </a:r>
            <a:r>
              <a:rPr lang="en-US" altLang="ru-RU" sz="3600"/>
              <a:t> </a:t>
            </a:r>
            <a:r>
              <a:rPr lang="en-US" altLang="en-US" sz="3600"/>
              <a:t>волны</a:t>
            </a:r>
            <a:r>
              <a:rPr lang="en-US" altLang="ru-RU" sz="3600"/>
              <a:t> </a:t>
            </a:r>
            <a:r>
              <a:rPr lang="en-US" altLang="en-US" sz="3600"/>
              <a:t>на</a:t>
            </a:r>
            <a:r>
              <a:rPr lang="en-US" altLang="ru-RU" sz="3600"/>
              <a:t> </a:t>
            </a:r>
            <a:r>
              <a:rPr lang="en-US" altLang="en-US" sz="3600"/>
              <a:t>поверхности</a:t>
            </a:r>
            <a:r>
              <a:rPr lang="ru-RU" altLang="en-US" sz="3600"/>
              <a:t> </a:t>
            </a:r>
            <a:r>
              <a:rPr lang="en-US" altLang="en-US" sz="3600"/>
              <a:t>в</a:t>
            </a:r>
            <a:r>
              <a:rPr lang="en-US" altLang="ru-RU" sz="3600"/>
              <a:t> </a:t>
            </a:r>
            <a:r>
              <a:rPr lang="en-US" altLang="en-US" sz="3600"/>
              <a:t>зависимости</a:t>
            </a:r>
            <a:r>
              <a:rPr lang="en-US" altLang="ru-RU" sz="3600"/>
              <a:t> </a:t>
            </a:r>
            <a:r>
              <a:rPr lang="en-US" altLang="en-US" sz="3600"/>
              <a:t>от</a:t>
            </a:r>
            <a:r>
              <a:rPr lang="en-US" altLang="ru-RU" sz="3600"/>
              <a:t> </a:t>
            </a:r>
            <a:r>
              <a:rPr lang="en-US" altLang="en-US" sz="3600"/>
              <a:t>глубины</a:t>
            </a:r>
            <a:endParaRPr lang="en-US" altLang="en-US" sz="360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3600"/>
          </a:p>
          <a:p>
            <a:pPr algn="just">
              <a:buFont typeface="Arial" panose="020B0604020202020204" pitchFamily="34" charset="0"/>
            </a:pPr>
            <a:endParaRPr lang="en-US" altLang="en-US" sz="360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altLang="en-US" sz="3600"/>
              <a:t>Используемое оборудование</a:t>
            </a:r>
            <a:r>
              <a:rPr lang="en-US" altLang="en-US" sz="3600"/>
              <a:t>:</a:t>
            </a:r>
            <a:r>
              <a:rPr lang="ru-RU" altLang="en-US" sz="3600"/>
              <a:t> печатная плата с АЦП, компьютер </a:t>
            </a:r>
            <a:r>
              <a:rPr lang="en-US" altLang="en-US" sz="3600"/>
              <a:t>Raspberry Pi</a:t>
            </a:r>
            <a:r>
              <a:rPr lang="ru-RU" altLang="en-US" sz="3600"/>
              <a:t>, ведро, линейка, кювета</a:t>
            </a:r>
            <a:endParaRPr lang="ru-RU" altLang="en-US" sz="3600"/>
          </a:p>
          <a:p>
            <a:pPr algn="just"/>
            <a:endParaRPr lang="ru-RU" altLang="en-US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2" name="Замещающее содержимое 1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 lnSpcReduction="10000"/>
              </a:bodyPr>
              <a:p>
                <a:pPr algn="l"/>
                <a:r>
                  <a:rPr lang="ru-RU" altLang="en-US"/>
                  <a:t>В работе выполнялось следующее</a:t>
                </a:r>
                <a:r>
                  <a:rPr lang="en-US" altLang="en-US"/>
                  <a:t>:</a:t>
                </a:r>
                <a:endParaRPr lang="en-US" altLang="en-US"/>
              </a:p>
              <a:p>
                <a:pPr algn="l"/>
                <a:r>
                  <a:rPr lang="ru-RU" altLang="en-US"/>
                  <a:t>1.   Волны на поверхности воды обеспечивались быстрым открыванием кюветы</a:t>
                </a:r>
                <a:endParaRPr lang="ru-RU" altLang="en-US"/>
              </a:p>
              <a:p>
                <a:pPr algn="l"/>
                <a:r>
                  <a:rPr lang="ru-RU" altLang="en-US"/>
                  <a:t>2.   С помощью АЦП, расположенного на печатной плате, измерялось время, за которое волна достигала электродов, расположенных на расстоянии (93 +- 1) см от точки возникновения волны</a:t>
                </a:r>
                <a:endParaRPr lang="ru-RU" altLang="en-US"/>
              </a:p>
              <a:p>
                <a:pPr algn="l"/>
                <a:r>
                  <a:rPr lang="ru-RU" altLang="en-US"/>
                  <a:t>3.   Измерения проводились для пяти разных значений глубин</a:t>
                </a:r>
                <a:r>
                  <a:rPr lang="en-US" altLang="en-US"/>
                  <a:t>: </a:t>
                </a:r>
                <a:endParaRPr lang="en-US" altLang="en-US"/>
              </a:p>
              <a:p>
                <a:pPr algn="l"/>
                <a:r>
                  <a:rPr lang="ru-RU" altLang="en-US"/>
                  <a:t>103 мм, 79 мм, 63 мм, 41 мм, 21 мм</a:t>
                </a:r>
                <a:endParaRPr lang="ru-RU" altLang="en-US"/>
              </a:p>
              <a:p>
                <a:pPr algn="l">
                  <a:buFont typeface="Arial" panose="020B0604020202020204" pitchFamily="34" charset="0"/>
                </a:pPr>
                <a:r>
                  <a:rPr lang="ru-RU" altLang="en-US"/>
                  <a:t>4.   Был построен график зависимости скорости волны от начальной</a:t>
                </a:r>
                <a:endParaRPr lang="ru-RU" altLang="en-US"/>
              </a:p>
              <a:p>
                <a:pPr algn="l">
                  <a:buFont typeface="Arial" panose="020B0604020202020204" pitchFamily="34" charset="0"/>
                </a:pPr>
                <a:r>
                  <a:rPr lang="ru-RU" altLang="en-US"/>
                  <a:t>глубины</a:t>
                </a:r>
                <a:endParaRPr lang="ru-RU" altLang="en-US"/>
              </a:p>
              <a:p>
                <a:pPr algn="l">
                  <a:buFont typeface="Arial" panose="020B0604020202020204" pitchFamily="34" charset="0"/>
                </a:pPr>
                <a:r>
                  <a:rPr lang="ru-RU" altLang="en-US"/>
                  <a:t>5.   Проверялась формула </a:t>
                </a:r>
                <a:r>
                  <a:rPr lang="en-US" altLang="ru-RU">
                    <a:latin typeface="Calibri" panose="020F0502020204030204" charset="0"/>
                    <a:cs typeface="Calibri" panose="020F0502020204030204" charset="0"/>
                  </a:rPr>
                  <a:t>c = </a:t>
                </a:r>
                <a14:m>
                  <m:oMath xmlns:m="http://schemas.openxmlformats.org/officeDocument/2006/math">
                    <m:r>
                      <a:rPr lang="en-US" altLang="ru-RU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 </m:t>
                    </m:r>
                    <m:rad>
                      <m:radPr>
                        <m:degHide m:val="on"/>
                        <m:ctrlPr>
                          <a:rPr lang="en-US" altLang="ru-RU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𝑔ℎ</m:t>
                        </m:r>
                      </m:e>
                    </m:rad>
                  </m:oMath>
                </a14:m>
                <a:endParaRPr lang="ru-RU" altLang="en-US"/>
              </a:p>
              <a:p>
                <a:pPr algn="l">
                  <a:buFont typeface="Arial" panose="020B0604020202020204" pitchFamily="34" charset="0"/>
                </a:pPr>
                <a:endParaRPr lang="ru-RU" altLang="en-US"/>
              </a:p>
            </p:txBody>
          </p:sp>
        </mc:Choice>
        <mc:Fallback>
          <p:sp>
            <p:nvSpPr>
              <p:cNvPr id="2" name="Замещающее содержимое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 rotWithShape="1">
                <a:blip r:embed="rId1"/>
                <a:stretch>
                  <a:fillRect t="-521" b="-47"/>
                </a:stretch>
              </a:blipFill>
            </p:spPr>
            <p:txBody>
              <a:bodyPr/>
              <a:lstStyle/>
              <a:p>
                <a:r>
                  <a:rPr lang="ru-RU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Замещающее содержимое 5"/>
          <p:cNvPicPr>
            <a:picLocks noChangeAspect="1"/>
          </p:cNvPicPr>
          <p:nvPr>
            <p:ph sz="quarter" idx="13"/>
          </p:nvPr>
        </p:nvPicPr>
        <p:blipFill>
          <a:blip r:embed="rId1"/>
          <a:stretch>
            <a:fillRect/>
          </a:stretch>
        </p:blipFill>
        <p:spPr>
          <a:xfrm>
            <a:off x="1419225" y="551815"/>
            <a:ext cx="9257030" cy="5502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ее содержимое 1"/>
          <p:cNvSpPr>
            <a:spLocks noGrp="1"/>
          </p:cNvSpPr>
          <p:nvPr>
            <p:ph sz="quarter" idx="13"/>
          </p:nvPr>
        </p:nvSpPr>
        <p:spPr/>
        <p:txBody>
          <a:bodyPr/>
          <a:p>
            <a:endParaRPr lang="ru-RU" altLang="en-US" sz="3600"/>
          </a:p>
          <a:p>
            <a:endParaRPr lang="ru-RU" altLang="en-US" sz="3600"/>
          </a:p>
          <a:p>
            <a:pPr algn="just"/>
            <a:r>
              <a:rPr lang="ru-RU" altLang="en-US" sz="3600"/>
              <a:t>Вывод</a:t>
            </a:r>
            <a:r>
              <a:rPr lang="en-US" altLang="en-US" sz="3600"/>
              <a:t>: </a:t>
            </a:r>
            <a:r>
              <a:rPr lang="ru-RU" altLang="en-US" sz="3600"/>
              <a:t>приведенный метод оценки позволяет лишь приблизительно оценить скорость распространения волны на поверхности воды, поэтому он плохо соотносится с теорией и нуждается в доработке</a:t>
            </a:r>
            <a:endParaRPr lang="ru-RU" altLang="en-US"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999</Words>
  <Application>WPS Presentation</Application>
  <PresentationFormat>宽屏</PresentationFormat>
  <Paragraphs>28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SimSun</vt:lpstr>
      <vt:lpstr>Wingdings</vt:lpstr>
      <vt:lpstr>Calibri Light</vt:lpstr>
      <vt:lpstr>Calibri</vt:lpstr>
      <vt:lpstr>Cambria Math</vt:lpstr>
      <vt:lpstr>MS Mincho</vt:lpstr>
      <vt:lpstr>Liberation Mono</vt:lpstr>
      <vt:lpstr>Microsoft YaHei</vt:lpstr>
      <vt:lpstr>Arial Unicode MS</vt:lpstr>
      <vt:lpstr>Office Theme</vt:lpstr>
      <vt:lpstr>Лабораторная работа Определение скорости распространения волны на поверхности воды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</dc:creator>
  <cp:lastModifiedBy>1</cp:lastModifiedBy>
  <cp:revision>11</cp:revision>
  <dcterms:created xsi:type="dcterms:W3CDTF">2025-07-23T00:59:00Z</dcterms:created>
  <dcterms:modified xsi:type="dcterms:W3CDTF">2025-11-24T19:24:12Z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1049-12.2.0.23149</vt:lpwstr>
  </property>
  <property fmtid="{D5CDD505-2E9C-101B-9397-08002B2CF9AE}" pid="3" name="ICV">
    <vt:lpwstr>66CC5C05EC3542F8B8C64E642E109F4E_13</vt:lpwstr>
  </property>
</Properties>
</file>